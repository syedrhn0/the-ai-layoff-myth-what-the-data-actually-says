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85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Project: Replaced by AI? — a data investigation into whether AI is causing layoffs or whether it's a convenient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hypotheses are tested. The data ends up supporting Hypothesis C — displacement, not mass unemployment.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datasets rejected. Synthetic data issue: global_ai_tech_layoffs dataset had Anthropic entries dated January 2020, but Anthropic was founded in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SQL script is in the sql/ folder. The script runs top to bottom with verification checkpoints after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 of the dashboard establishes the macro context. 2021 appears quiet because layoffs.fyi had limited tracking coverage that year — not because layoffs didn't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finding on this page is the RISING avg % cut — not the absolute number. Companies in the AI era are cutting deeper proportionally, which is a behavioural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'None announced' replacement role for xAI is important — some companies cut human roles without announcing any AI hires. That weakens the 1-to-1 replacement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conclusion slide. The verdict is evidence-based and hedged appropriately. The project acknowledges that AI attribution is company self-reported, which is a real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maps the project to employable skills. Can be adapted for job applications or interview prep.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[your-username] in the GitHub link with your actual GitHub username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2801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5400" b="1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The AI Layoff Myth</a:t>
            </a:r>
            <a:endParaRPr lang="en-US" sz="5400" b="1" dirty="0">
              <a:solidFill>
                <a:srgbClr val="FFFFFF"/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200" dirty="0">
                <a:solidFill>
                  <a:srgbClr val="AACCEE"/>
                </a:solidFill>
                <a:latin typeface="Segoe UI" pitchFamily="34" charset="0"/>
                <a:cs typeface="Segoe UI" pitchFamily="34" charset="-120"/>
              </a:rPr>
              <a:t>What the Data Actually Says</a:t>
            </a:r>
            <a:endParaRPr lang="en-US" sz="2200" dirty="0">
              <a:solidFill>
                <a:srgbClr val="AACCEE"/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029200" cy="3657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 ·  Power BI  ·  DAX  ·  SQL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799B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Syed Rehan  ·  Portfolio Project  · 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3657600"/>
            <a:ext cx="2286000" cy="1005840"/>
          </a:xfrm>
          <a:prstGeom prst="rect">
            <a:avLst/>
          </a:prstGeom>
          <a:solidFill>
            <a:srgbClr val="1D2E3F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31152" y="371246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4,337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931152" y="420624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Layoff Events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326880" y="3657600"/>
            <a:ext cx="2286000" cy="1005840"/>
          </a:xfrm>
          <a:prstGeom prst="rect">
            <a:avLst/>
          </a:prstGeom>
          <a:solidFill>
            <a:srgbClr val="1D2E3F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00032" y="371246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874K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400032" y="420624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 Reported Lost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0" y="4846320"/>
            <a:ext cx="2286000" cy="1005840"/>
          </a:xfrm>
          <a:prstGeom prst="rect">
            <a:avLst/>
          </a:prstGeom>
          <a:solidFill>
            <a:srgbClr val="1D2E3F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31152" y="490118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931152" y="53949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326880" y="4846320"/>
            <a:ext cx="2286000" cy="1005840"/>
          </a:xfrm>
          <a:prstGeom prst="rect">
            <a:avLst/>
          </a:prstGeom>
          <a:solidFill>
            <a:srgbClr val="1D2E3F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00032" y="4901184"/>
            <a:ext cx="21396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2,882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400032" y="53949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Central Question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6217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people being replaced by AI</a:t>
            </a:r>
            <a:endParaRPr lang="en-US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are layoffs happening for the</a:t>
            </a:r>
            <a:endParaRPr lang="en-US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reasons they always have?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1143000"/>
            <a:ext cx="5029200" cy="1207008"/>
          </a:xfrm>
          <a:prstGeom prst="rect">
            <a:avLst/>
          </a:prstGeom>
          <a:solidFill>
            <a:srgbClr val="FFF0F0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95160" y="1234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Hypothesis A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149047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eliminating jobs at scale, mass unemployment is underway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0" y="2514600"/>
            <a:ext cx="5029200" cy="1207008"/>
          </a:xfrm>
          <a:prstGeom prst="rect">
            <a:avLst/>
          </a:prstGeom>
          <a:solidFill>
            <a:srgbClr val="FFF3E8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5160" y="26060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Hypothesis B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86207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Layoffs follow the same patterns as always, AI is the new excuse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0" y="3886200"/>
            <a:ext cx="5029200" cy="1207008"/>
          </a:xfrm>
          <a:prstGeom prst="rect">
            <a:avLst/>
          </a:prstGeom>
          <a:solidFill>
            <a:srgbClr val="EEF2FA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95160" y="39776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47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Hypothesis C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423367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reshaping roles that is displacement, not elimination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dashboard investigates all three possibilities using real layoff data from 2020 to 2026.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Datasets &amp;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669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5669280" cy="34747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078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DATASET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813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layoffs.csv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470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layoffs.fyi via Kaggle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176272"/>
            <a:ext cx="22860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4,342 rows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2176272"/>
            <a:ext cx="283464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36392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2020 – Apr 2026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67004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 source URLs for every row (Bloomberg, CNBC, Reuters)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2841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Covers 66 countries, 2,882 companies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9867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34.5% of events have no exact number — documented and disclosed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1051560"/>
            <a:ext cx="56692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1051560"/>
            <a:ext cx="5669280" cy="34747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1078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EVIDENCE LAYER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14813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tech_layoffs_2026_tracker.csv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18470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Kaggle — AI Layoffs Tracker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2176272"/>
            <a:ext cx="228600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56832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rows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0" y="2176272"/>
            <a:ext cx="283464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71432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2026 only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267004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Has ai_cited boolean column — core to the investigation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32841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Includes simultaneous AI investment ($bn)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398678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Shows roles cut vs roles created at same company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6035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5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Two other Kaggle datasets were evaluated and rejected: one was synthetically fabricated (Anthropic layoffs dated before the company existed), one had only 28 rows with no verifiable sources. Dataset credibility was treated as non-negotiable.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AAA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011680" cy="384048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8912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18745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CSV files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4,342 rows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2148840"/>
            <a:ext cx="347472" cy="7315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59152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24912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1371600"/>
            <a:ext cx="2011680" cy="3840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98064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798064" y="18745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design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2148840"/>
            <a:ext cx="347472" cy="7315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18304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4064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4064" y="1371600"/>
            <a:ext cx="2011680" cy="38404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57216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Views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57216" y="18745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analytical views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pre-aggregated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95744" y="2148840"/>
            <a:ext cx="347472" cy="7315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77456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43216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43216" y="1371600"/>
            <a:ext cx="2011680" cy="38404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516368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Measures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516368" y="18745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20+ measures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groups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454896" y="2148840"/>
            <a:ext cx="347472" cy="73152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36608" y="2029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802368" y="1371600"/>
            <a:ext cx="20116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40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02368" y="1371600"/>
            <a:ext cx="2011680" cy="384048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75520" y="140817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18745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3-page 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Pipeline Detail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38221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layoffs_raw → staging table (all VARCHAR, exact CSV mirror)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42336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layoffs_clean → production table with derived columns: year, quarter, layoff_era, layoff_size_bucket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46451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layoffs_2026_ai → cleaned AI tracker with ai_cited as TINYINT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50566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company_bridge → 16-row manual mapping table linking both datasets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365760" y="54681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8 analytical views: by year, era, industry, stage, quarterly trend, country, AI evidence, size buckets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Detail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38221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Date Table built in DAX (CALENDAR function, 2020–2026)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492240" y="42336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Relationships: Date Table ↔ layoffs_clean ↔ company_bridge ↔ layoffs_2026_ai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46451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20+ DAX measures: core counts, era comparisons, YoY, AI evidence, display formatters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492240" y="50566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pages: The Scale · The Pattern Changed · The AI Evidence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492240" y="54681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Page navigator buttons for presentation-mode browsing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- Page 1: The Scale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05840"/>
            <a:ext cx="3657600" cy="256032"/>
          </a:xfrm>
          <a:prstGeom prst="rect">
            <a:avLst/>
          </a:prstGeom>
          <a:solidFill>
            <a:srgbClr val="2E4057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PAGE ANSWERS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29844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"How large is this phenomenon, and when did it happen?"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8912" y="1993392"/>
            <a:ext cx="2139696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4,337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8912" y="2543861"/>
            <a:ext cx="213969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Layoff Events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192024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62072" y="1993392"/>
            <a:ext cx="2139696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874K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2543861"/>
            <a:ext cx="213969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 Jobs Lost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192024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85232" y="1993392"/>
            <a:ext cx="2139696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2,882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285232" y="2543861"/>
            <a:ext cx="213969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 Affected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090672"/>
            <a:ext cx="7132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1821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Quarterly Layoffs 2020–2026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64592" cy="12801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Pandemic Era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0" y="5120640"/>
            <a:ext cx="164592" cy="12801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4436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 Era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46320" y="5120640"/>
            <a:ext cx="164592" cy="12801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4748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Pivot Era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280160" cy="5486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5" name="Shape 23"/>
          <p:cNvSpPr/>
          <p:nvPr/>
        </p:nvSpPr>
        <p:spPr>
          <a:xfrm>
            <a:off x="2103120" y="3520440"/>
            <a:ext cx="2560320" cy="141732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4114800"/>
            <a:ext cx="2286000" cy="8229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0040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Peak: 2023-Q1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167,674 jobs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1005840"/>
            <a:ext cx="4114800" cy="256032"/>
          </a:xfrm>
          <a:prstGeom prst="rect">
            <a:avLst/>
          </a:prstGeom>
          <a:solidFill>
            <a:srgbClr val="2E4057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772400" y="135331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0956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 Q1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909560" y="1828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layoff quarter — 167,674 reported jobs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0" y="263347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0956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31089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Hardest-hit company — 58,124 total jobs across all years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72400" y="391363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0956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35.4%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7909560" y="43891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workforce cut per AI Pivot Era event (vs 26.6% in Correction Era)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72400" y="51937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909560" y="5257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64%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7909560" y="56692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all events are from the United States (US-heavy dataset)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- Page 2: How the Pattern Changed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87552"/>
            <a:ext cx="5029200" cy="256032"/>
          </a:xfrm>
          <a:prstGeom prst="rect">
            <a:avLst/>
          </a:prstGeom>
          <a:solidFill>
            <a:srgbClr val="2E4057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PAGE ANSWERS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"Is the AI Pivot Era structurally different from what came before?"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65176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78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97K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Pandemic Era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32.2%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212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% Workforce Cut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777240"/>
          </a:xfrm>
          <a:prstGeom prst="rect">
            <a:avLst/>
          </a:prstGeom>
          <a:solidFill>
            <a:srgbClr val="FFF3E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7560" y="1078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429K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 Era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87452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3756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26.6%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2212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% Workforce Cut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777240"/>
          </a:xfrm>
          <a:prstGeom prst="rect">
            <a:avLst/>
          </a:prstGeom>
          <a:solidFill>
            <a:srgbClr val="FF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078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348K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Pivot Era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26480" y="1874520"/>
            <a:ext cx="2651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19019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35.4%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2128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% Workforce Cut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2633472"/>
            <a:ext cx="8778240" cy="804672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697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STRUCTURAL FINDING: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29260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Pivot Era has FEWER total jobs lost than the Correction Era (348K vs 429K), but companies are cutting a LARGER share of their workforce per event (35.4% vs 26.6%). This signals deliberate strategic restructuring, not reactive cost-cutting.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566160"/>
            <a:ext cx="8778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639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Companies Cutting Larger Shares Over Time?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407822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Pandemic Era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0" y="4114800"/>
            <a:ext cx="4213555" cy="329184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32" name="Shape 30"/>
          <p:cNvSpPr/>
          <p:nvPr/>
        </p:nvSpPr>
        <p:spPr>
          <a:xfrm>
            <a:off x="6499555" y="4114800"/>
            <a:ext cx="2040941" cy="32918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3" name="Shape 31"/>
          <p:cNvSpPr/>
          <p:nvPr/>
        </p:nvSpPr>
        <p:spPr>
          <a:xfrm>
            <a:off x="8540496" y="4114800"/>
            <a:ext cx="263347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8803843" y="4114800"/>
            <a:ext cx="65837" cy="329184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331720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64% Small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6545275" y="4169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31%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8586216" y="41696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4%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45811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 Era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0" y="4617720"/>
            <a:ext cx="3489350" cy="329184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40" name="Shape 38"/>
          <p:cNvSpPr/>
          <p:nvPr/>
        </p:nvSpPr>
        <p:spPr>
          <a:xfrm>
            <a:off x="5775350" y="4617720"/>
            <a:ext cx="2830982" cy="32918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41" name="Shape 39"/>
          <p:cNvSpPr/>
          <p:nvPr/>
        </p:nvSpPr>
        <p:spPr>
          <a:xfrm>
            <a:off x="8606333" y="4617720"/>
            <a:ext cx="197510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8803843" y="4617720"/>
            <a:ext cx="65837" cy="329184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331720" y="4672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53% Small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5821070" y="4672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43%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8652053" y="46725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3%</a:t>
            </a:r>
            <a:endParaRPr lang="en-US" sz="750" dirty="0"/>
          </a:p>
        </p:txBody>
      </p:sp>
      <p:sp>
        <p:nvSpPr>
          <p:cNvPr id="46" name="Text 44"/>
          <p:cNvSpPr txBox="1"/>
          <p:nvPr/>
        </p:nvSpPr>
        <p:spPr>
          <a:xfrm>
            <a:off x="502920" y="50840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Pivot Era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0" y="5120640"/>
            <a:ext cx="2765146" cy="329184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48" name="Shape 46"/>
          <p:cNvSpPr/>
          <p:nvPr/>
        </p:nvSpPr>
        <p:spPr>
          <a:xfrm>
            <a:off x="5051146" y="5120640"/>
            <a:ext cx="3160166" cy="32918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49" name="Shape 47"/>
          <p:cNvSpPr/>
          <p:nvPr/>
        </p:nvSpPr>
        <p:spPr>
          <a:xfrm>
            <a:off x="8211312" y="5120640"/>
            <a:ext cx="526694" cy="329184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8738006" y="5120640"/>
            <a:ext cx="131674" cy="329184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331720" y="51755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42% Small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5096866" y="51755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48%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8257032" y="51755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235440" y="987552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372600" y="10789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Post-IPO Companies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Dominate AI Pivot Era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372600" y="17190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Post-IPO = large established public companies making deliberate strategic decisions.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9372600" y="23317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609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Correction Era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9372600" y="3090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Pivot Era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9372600" y="3794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Post-IPO layoff events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(still #1 in AI Pivot Era)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- Page 3: The AI Evidence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87552"/>
            <a:ext cx="5029200" cy="256032"/>
          </a:xfrm>
          <a:prstGeom prst="rect">
            <a:avLst/>
          </a:prstGeom>
          <a:solidFill>
            <a:srgbClr val="2E4057"/>
          </a:solidFill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PAGE ANSWERS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"In cases where we have direct AI data, what does it actually show?"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8912" y="199339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38912" y="24871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2026 Events Tracked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273552" y="199339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273552" y="24871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Cited AI as Reason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08192" y="199339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51.9%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108192" y="24871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Citation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69680" y="19202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2700000" algn="bl" rotWithShape="0">
              <a:srgbClr val="CCCCCC">
                <a:alpha val="7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942832" y="1993392"/>
            <a:ext cx="2505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100K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942832" y="248716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 Cut (27 events)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99232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0632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Market Rewards AI Narrative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3649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78%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AI-cited layoffs got a Positive stock reaction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3730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46% for non-AI cited — markets reward the AI framing.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2999232"/>
            <a:ext cx="58521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999232"/>
            <a:ext cx="5852160" cy="347472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72200" y="30358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Being Cut  →  Roles Being Created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3401568"/>
            <a:ext cx="58521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44768" y="34564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Testers / Manual Testers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869680" y="345643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4564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Test Automation Engineers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35040" y="3813048"/>
            <a:ext cx="5852160" cy="4023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44768" y="38679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Support (Tier-1)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386791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0" y="386791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Success Managers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35040" y="4224528"/>
            <a:ext cx="58521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44768" y="42793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Operations / Database Admins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869680" y="427939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144000" y="427939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Infrastructure / GPU Specialists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35040" y="4636008"/>
            <a:ext cx="5852160" cy="4023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144768" y="46908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Moderation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8869680" y="469087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144000" y="46908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Content Specialists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35040" y="5047488"/>
            <a:ext cx="58521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144768" y="5102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VR/AR Engineers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8869680" y="510235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9144000" y="510235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Researchers / LLM Engineers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35040" y="5458968"/>
            <a:ext cx="5852160" cy="40233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144768" y="55138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Processors / Underwriters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8869680" y="551383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0" y="55138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System Trainers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5760" y="4315968"/>
            <a:ext cx="5486400" cy="1874520"/>
          </a:xfrm>
          <a:prstGeom prst="rect">
            <a:avLst/>
          </a:prstGeom>
          <a:solidFill>
            <a:srgbClr val="FFF0F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8640" y="440740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Repeat Offender Problem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4754880"/>
            <a:ext cx="5212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Oracle, Amazon, Cisco, Salesforce, and Atlassian all had significant layoffs in 2024 and 2025  BEFORE AI was stated as the reason in 2026.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weakens the pure AI causation argument. These companies have a pattern of restructuring that predates the AI narrative.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Verdict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Data Actually Shows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11430000" cy="1417320"/>
          </a:xfrm>
          <a:prstGeom prst="rect">
            <a:avLst/>
          </a:prstGeom>
          <a:solidFill>
            <a:srgbClr val="FFF0F0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reshaping job roles, not eliminating employment wholesale.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51.9% of major Q1 2026 layoffs cited AI. But those same companies grew total headcount year-over-year. This is displacement, not mass unemployment.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374904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108960"/>
            <a:ext cx="3749040" cy="47548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31455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675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Restructuring, Not Elimination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13308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AI-cited companies grew total headcount while cutting specific roles. Jobs are moving, not disappearing.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3108960"/>
            <a:ext cx="374904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3108960"/>
            <a:ext cx="3749040" cy="47548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80560" y="31455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675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D7D3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Repeat Offender Pattern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13308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 citing AI in 2026 were already cutting in 2024–25 without that justification. The pattern predates the narrative.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21040" y="3108960"/>
            <a:ext cx="374904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3108960"/>
            <a:ext cx="3749040" cy="47548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58200" y="31455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58200" y="3675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47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Markets Reward the AI Story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58200" y="4133088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78% positive stock reaction for AI-cited layoffs vs 46% for non-AI. Companies have a financial incentive to use this framing.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solidFill>
            <a:srgbClr val="FFFBF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5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limitations: 34.5% of events unreported · 2021 tracking gap · US-heavy dataset · AI attribution is self-reported by companies · Q1 2026 only for direct AI evidence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 Demonstrated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3749040" cy="5349240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3749040" cy="47548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0607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6420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Designed 4-table MySQL schema from scratch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420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Wrote full cleaning pipeline: STR_TO_DATE, CASE WHEN, ROW_NUMBER()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19856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Handled NULLs, duplicates, and text standardization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9768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8 pre-aggregated analytical views for performance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75504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Manual bridge table for cross-dataset joins on fuzzy company names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024128"/>
            <a:ext cx="3749040" cy="534924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024128"/>
            <a:ext cx="3749040" cy="475488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80560" y="10607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166420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Evaluated 4 datasets, rejected 2 for data quality issues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5420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Designed era-based analytical framework (3 eras)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419856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Cross-referenced findings against real news sources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29768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Documented data limitations explicitly and honestly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5175504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Drew conclusions supported by evidence, not assumptions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21040" y="1024128"/>
            <a:ext cx="3749040" cy="5349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024128"/>
            <a:ext cx="3749040" cy="47548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458200" y="10607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1664208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3-page Power BI dashboard with consistent design system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2542032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Created 20+ DAX measures across 5 functional groups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3419856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Applied era color system consistently across all visuals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4297680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 Date Table and star-schema relationships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5175504"/>
            <a:ext cx="3383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Added page navigation for presentation-mode browsing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40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600" dirty="0">
                <a:solidFill>
                  <a:srgbClr val="AACCEE"/>
                </a:solidFill>
                <a:latin typeface="Segoe UI" pitchFamily="34" charset="0"/>
                <a:cs typeface="Segoe UI" pitchFamily="34" charset="-120"/>
              </a:rPr>
              <a:t>The AI Layoff Myth -</a:t>
            </a:r>
            <a:r>
              <a:rPr lang="en-US" sz="1600" dirty="0">
                <a:solidFill>
                  <a:srgbClr val="AACC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GB" sz="1600" dirty="0">
                <a:solidFill>
                  <a:srgbClr val="AACCEE"/>
                </a:solidFill>
                <a:latin typeface="Segoe UI" pitchFamily="34" charset="0"/>
                <a:cs typeface="Segoe UI" pitchFamily="34" charset="-120"/>
              </a:rPr>
              <a:t>What the Data Actually Says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4114800" cy="3657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46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324612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https://github.com/syedrhn0/The-AI-Layoff-Myth-What-the-Data-Actually-Says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384048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Kaggle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348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4434840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8.0 · Power BI Desktop · DAX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66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4,337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779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5166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874K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5779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5166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Eras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5779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5166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51.9%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5779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B8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Cited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1547</Words>
  <Application>Microsoft Office PowerPoint</Application>
  <PresentationFormat>Widescreen</PresentationFormat>
  <Paragraphs>244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Care</cp:lastModifiedBy>
  <cp:revision>5</cp:revision>
  <dcterms:created xsi:type="dcterms:W3CDTF">2026-08-26T10:42:22Z</dcterms:created>
  <dcterms:modified xsi:type="dcterms:W3CDTF">2026-09-17T10:18:55Z</dcterms:modified>
</cp:coreProperties>
</file>